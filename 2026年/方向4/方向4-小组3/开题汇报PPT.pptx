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64" r:id="rId4"/>
    <p:sldId id="257" r:id="rId5"/>
    <p:sldId id="258" r:id="rId6"/>
    <p:sldId id="260" r:id="rId7"/>
    <p:sldId id="259" r:id="rId8"/>
    <p:sldId id="261" r:id="rId9"/>
    <p:sldId id="266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大家好，今天我将向各位汇报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我们组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的开题研究。我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们组汇报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的课题是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辅助程序修复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RepairLLaMA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项目复现与实践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4686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01DB4-DDF3-A4B1-1216-1EFC952A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092912-2D7D-63DF-CAB0-79D9DA3259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13D50-165D-13C1-E492-93AAC4B7F55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7069C3-BD67-4C18-7120-8C991117F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59291F8-9629-53B7-31A7-6121758ABD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8EECC-AAD1-F122-435C-330C23A1CA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25776-66D3-C803-C073-DBA77F77A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80158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我的汇报到此结束，感谢各位老师的聆听！恳请各位老师批评指正。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sv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0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rxiv.org/abs/2405.01466" TargetMode="External"/><Relationship Id="rId4" Type="http://schemas.openxmlformats.org/officeDocument/2006/relationships/hyperlink" Target="https://arxiv.org/abs/2506.23749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35000" y="2286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开题汇报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5000" y="3429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[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LLM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辅助程序修复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en-US" altLang="zh-CN" sz="2400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RepairLLaMA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项目复现与实践</a:t>
            </a:r>
            <a:r>
              <a:rPr lang="en-US" sz="2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41137" y="5334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dirty="0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2026年3月19</a:t>
            </a:r>
            <a:r>
              <a:rPr lang="zh-CN" alt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0422A73-87C1-869E-D7D1-09DEBD495D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3BB35FEB-5C10-DD7F-FCD0-EDEBFE7B4A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31BB622-6FAA-55B3-81FF-E4DF5C5614C9}"/>
              </a:ext>
            </a:extLst>
          </p:cNvPr>
          <p:cNvSpPr/>
          <p:nvPr/>
        </p:nvSpPr>
        <p:spPr>
          <a:xfrm>
            <a:off x="762000" y="635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团队成员介绍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9AACAEF-0953-EAEB-6CA4-1E157CDA9AF7}"/>
              </a:ext>
            </a:extLst>
          </p:cNvPr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0823477-97D5-13B3-5C8A-54CEC72EF756}"/>
              </a:ext>
            </a:extLst>
          </p:cNvPr>
          <p:cNvSpPr/>
          <p:nvPr/>
        </p:nvSpPr>
        <p:spPr>
          <a:xfrm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8743204D-CBA9-449D-4D1A-6678AD0295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2500" y="18415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>
            <a:extLst>
              <a:ext uri="{FF2B5EF4-FFF2-40B4-BE49-F238E27FC236}">
                <a16:creationId xmlns:a16="http://schemas.microsoft.com/office/drawing/2014/main" id="{0F8505EF-207A-65EE-DE86-4F7DAF2A7DEB}"/>
              </a:ext>
            </a:extLst>
          </p:cNvPr>
          <p:cNvSpPr/>
          <p:nvPr/>
        </p:nvSpPr>
        <p:spPr>
          <a:xfrm>
            <a:off x="1968500" y="1778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组长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察宇</a:t>
            </a:r>
            <a:endParaRPr lang="en-US" sz="1100" dirty="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EAD7016-1D75-AE63-FDEB-9336FCB75826}"/>
              </a:ext>
            </a:extLst>
          </p:cNvPr>
          <p:cNvSpPr/>
          <p:nvPr/>
        </p:nvSpPr>
        <p:spPr>
          <a:xfrm>
            <a:off x="1968500" y="2159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自行添加</a:t>
            </a:r>
            <a:endParaRPr lang="en-US" sz="1100" dirty="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EB023C0-3369-509D-89A1-AE269C3559FC}"/>
              </a:ext>
            </a:extLst>
          </p:cNvPr>
          <p:cNvSpPr/>
          <p:nvPr/>
        </p:nvSpPr>
        <p:spPr>
          <a:xfrm>
            <a:off x="762000" y="3111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61631044-D519-440A-4A95-80503DBBCA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52500" y="33020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>
            <a:extLst>
              <a:ext uri="{FF2B5EF4-FFF2-40B4-BE49-F238E27FC236}">
                <a16:creationId xmlns:a16="http://schemas.microsoft.com/office/drawing/2014/main" id="{3C718FD1-9AFD-F60B-7B35-25328D82263F}"/>
              </a:ext>
            </a:extLst>
          </p:cNvPr>
          <p:cNvSpPr/>
          <p:nvPr/>
        </p:nvSpPr>
        <p:spPr>
          <a:xfrm>
            <a:off x="1968500" y="3238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组员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向雯扬</a:t>
            </a:r>
            <a:endParaRPr lang="en-US" sz="1100" dirty="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7533DAFA-6AD3-FF1C-5296-B8604CDE1460}"/>
              </a:ext>
            </a:extLst>
          </p:cNvPr>
          <p:cNvSpPr/>
          <p:nvPr/>
        </p:nvSpPr>
        <p:spPr>
          <a:xfrm>
            <a:off x="1968500" y="3619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自行添加</a:t>
            </a:r>
            <a:endParaRPr lang="en-US" sz="1100" dirty="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D446E24-32F0-A1E6-2715-B8219F933201}"/>
              </a:ext>
            </a:extLst>
          </p:cNvPr>
          <p:cNvSpPr/>
          <p:nvPr/>
        </p:nvSpPr>
        <p:spPr>
          <a:xfrm>
            <a:off x="762000" y="457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BB64C279-659D-C88E-8776-A712E52606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2500" y="47625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>
            <a:extLst>
              <a:ext uri="{FF2B5EF4-FFF2-40B4-BE49-F238E27FC236}">
                <a16:creationId xmlns:a16="http://schemas.microsoft.com/office/drawing/2014/main" id="{B68E5A82-C4B3-9A68-6E99-C0F07A0239F3}"/>
              </a:ext>
            </a:extLst>
          </p:cNvPr>
          <p:cNvSpPr/>
          <p:nvPr/>
        </p:nvSpPr>
        <p:spPr>
          <a:xfrm>
            <a:off x="1968500" y="4699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组员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樊龄聪</a:t>
            </a:r>
            <a:endParaRPr lang="en-US" sz="1100" dirty="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710A0563-3D4D-00A7-4C0B-314A1C323FD1}"/>
              </a:ext>
            </a:extLst>
          </p:cNvPr>
          <p:cNvSpPr/>
          <p:nvPr/>
        </p:nvSpPr>
        <p:spPr>
          <a:xfrm>
            <a:off x="1968500" y="5080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自行添加</a:t>
            </a: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EF14C9D1-A22E-B054-1CEE-1F120E857084}"/>
              </a:ext>
            </a:extLst>
          </p:cNvPr>
          <p:cNvSpPr/>
          <p:nvPr/>
        </p:nvSpPr>
        <p:spPr>
          <a:xfrm>
            <a:off x="6350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FBE823E7-8FBE-CEB0-6B92-404251C642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540500" y="18415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>
            <a:extLst>
              <a:ext uri="{FF2B5EF4-FFF2-40B4-BE49-F238E27FC236}">
                <a16:creationId xmlns:a16="http://schemas.microsoft.com/office/drawing/2014/main" id="{931A7057-E93F-A04F-7659-726E16A914CB}"/>
              </a:ext>
            </a:extLst>
          </p:cNvPr>
          <p:cNvSpPr/>
          <p:nvPr/>
        </p:nvSpPr>
        <p:spPr>
          <a:xfrm>
            <a:off x="7556500" y="1778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组员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杨志成</a:t>
            </a:r>
            <a:endParaRPr lang="en-US" sz="1100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0F5CBCC-70E5-8F5D-ED7B-60ADE7175031}"/>
              </a:ext>
            </a:extLst>
          </p:cNvPr>
          <p:cNvSpPr/>
          <p:nvPr/>
        </p:nvSpPr>
        <p:spPr>
          <a:xfrm>
            <a:off x="7556500" y="2159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</a:t>
            </a:r>
            <a:r>
              <a:rPr lang="en-US" altLang="zh-CN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PPT</a:t>
            </a:r>
            <a:r>
              <a:rPr lang="zh-CN" alt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制作以及后续死锁检测模块部分搭建</a:t>
            </a:r>
            <a:endParaRPr lang="en-US" sz="1100" dirty="0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924B79D3-FDF6-917A-0287-0234B5B6B4B3}"/>
              </a:ext>
            </a:extLst>
          </p:cNvPr>
          <p:cNvSpPr/>
          <p:nvPr/>
        </p:nvSpPr>
        <p:spPr>
          <a:xfrm>
            <a:off x="6350000" y="3111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>
            <a:extLst>
              <a:ext uri="{FF2B5EF4-FFF2-40B4-BE49-F238E27FC236}">
                <a16:creationId xmlns:a16="http://schemas.microsoft.com/office/drawing/2014/main" id="{393B40AE-2A4B-09DC-FC56-50440ECFF5B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540500" y="33020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>
            <a:extLst>
              <a:ext uri="{FF2B5EF4-FFF2-40B4-BE49-F238E27FC236}">
                <a16:creationId xmlns:a16="http://schemas.microsoft.com/office/drawing/2014/main" id="{CE0680F7-920E-C69F-7334-88E4CD26BDFA}"/>
              </a:ext>
            </a:extLst>
          </p:cNvPr>
          <p:cNvSpPr/>
          <p:nvPr/>
        </p:nvSpPr>
        <p:spPr>
          <a:xfrm>
            <a:off x="7556500" y="3238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组员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郝敬安</a:t>
            </a:r>
            <a:endParaRPr lang="en-US" sz="1100" dirty="0"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15AEC9A-6454-8B23-9409-D4E653D28581}"/>
              </a:ext>
            </a:extLst>
          </p:cNvPr>
          <p:cNvSpPr/>
          <p:nvPr/>
        </p:nvSpPr>
        <p:spPr>
          <a:xfrm>
            <a:off x="7556500" y="3619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dirty="0">
                <a:solidFill>
                  <a:srgbClr val="505050"/>
                </a:solidFill>
                <a:latin typeface="Noto Sans SC"/>
                <a:ea typeface="Noto Sans SC"/>
                <a:sym typeface="Noto Sans SC"/>
              </a:rPr>
              <a:t>自行添加</a:t>
            </a:r>
            <a:endParaRPr lang="en-US" sz="1100" dirty="0"/>
          </a:p>
        </p:txBody>
      </p:sp>
      <p:pic>
        <p:nvPicPr>
          <p:cNvPr id="27" name="Picture 27">
            <a:extLst>
              <a:ext uri="{FF2B5EF4-FFF2-40B4-BE49-F238E27FC236}">
                <a16:creationId xmlns:a16="http://schemas.microsoft.com/office/drawing/2014/main" id="{F03BAA55-F268-A76C-BE13-CB3FCC7790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6000" y="635000"/>
            <a:ext cx="508000" cy="508000"/>
          </a:xfrm>
          <a:prstGeom prst="rect">
            <a:avLst/>
          </a:prstGeom>
        </p:spPr>
      </p:pic>
      <p:sp>
        <p:nvSpPr>
          <p:cNvPr id="28" name="AutoShape 28">
            <a:extLst>
              <a:ext uri="{FF2B5EF4-FFF2-40B4-BE49-F238E27FC236}">
                <a16:creationId xmlns:a16="http://schemas.microsoft.com/office/drawing/2014/main" id="{B3617771-EA75-73E2-5A8B-77B7502C34F6}"/>
              </a:ext>
            </a:extLst>
          </p:cNvPr>
          <p:cNvSpPr/>
          <p:nvPr/>
        </p:nvSpPr>
        <p:spPr>
          <a:xfrm>
            <a:off x="7239000" y="4826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340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540000" y="15240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4000" y="1727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302000" y="16891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研究背景与问题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2540000" y="23622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94000" y="2565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302000" y="25273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zh-CN" altLang="en-US" sz="18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r>
              <a:rPr lang="en-US" altLang="zh-CN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RepairLLaMA</a:t>
            </a: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原因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2540000" y="32004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4000" y="3403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302000" y="3365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改进思路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2540000" y="40386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94000" y="42418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302000" y="42037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04. </a:t>
            </a: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复现结果与实验分析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2540000" y="48768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94000" y="5080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302000" y="50419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05. 未来展望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6096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16009" y="2152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86000"/>
            <a:ext cx="4572000" cy="378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spcAft>
                <a:spcPts val="1000"/>
              </a:spcAft>
              <a:defRPr/>
            </a:pPr>
            <a:r>
              <a:rPr lang="zh-CN" alt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一、软件维护的挑战：</a:t>
            </a:r>
            <a:endParaRPr lang="en-US" altLang="zh-CN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6666"/>
              </a:lnSpc>
              <a:spcAft>
                <a:spcPts val="1000"/>
              </a:spcAft>
              <a:defRPr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随着现在软件系统的规模和复杂化指数级上升，同时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Bug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的数量和修复难度也急剧上升。在整个软件的生命周期成本中占比很大。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6666"/>
              </a:lnSpc>
              <a:spcAft>
                <a:spcPts val="1000"/>
              </a:spcAft>
              <a:defRPr/>
            </a:pPr>
            <a:r>
              <a:rPr lang="zh-CN" alt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二、传统方法的局限：</a:t>
            </a:r>
            <a:endParaRPr lang="en-US" altLang="zh-CN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6666"/>
              </a:lnSpc>
              <a:spcAft>
                <a:spcPts val="1000"/>
              </a:spcAft>
              <a:defRPr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传统的程序修复方法多基于规则化匹配或者小样本机器学习。并且依赖大量标注数据、泛化能力弱等问题。难以应对复杂多变的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BUG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，尤其是在并发程序中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6666"/>
              </a:lnSpc>
              <a:spcAft>
                <a:spcPts val="1000"/>
              </a:spcAft>
              <a:defRPr/>
            </a:pPr>
            <a:r>
              <a:rPr lang="zh-CN" altLang="en-US" b="1" dirty="0">
                <a:solidFill>
                  <a:schemeClr val="accent1"/>
                </a:solidFill>
                <a:latin typeface="Calibri" panose="020F0502020204030204" pitchFamily="34" charset="0"/>
                <a:ea typeface="Noto Sans SC"/>
                <a:cs typeface="Calibri" panose="020F0502020204030204" pitchFamily="34" charset="0"/>
                <a:sym typeface="Noto Sans SC"/>
              </a:rPr>
              <a:t>三</a:t>
            </a:r>
            <a:r>
              <a:rPr lang="zh-CN" altLang="en-US" sz="1400" b="1" i="0" u="none" strike="noStrike" dirty="0">
                <a:solidFill>
                  <a:schemeClr val="accent1"/>
                </a:solidFill>
                <a:latin typeface="Calibri" panose="020F0502020204030204" pitchFamily="34" charset="0"/>
                <a:ea typeface="Noto Sans SC"/>
                <a:cs typeface="Calibri" panose="020F0502020204030204" pitchFamily="34" charset="0"/>
                <a:sym typeface="Noto Sans SC"/>
              </a:rPr>
              <a:t>、</a:t>
            </a:r>
            <a:r>
              <a:rPr lang="en-US" altLang="zh-CN" sz="1400" b="1" i="0" u="none" strike="noStrike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oto Sans SC"/>
              </a:rPr>
              <a:t>LLM</a:t>
            </a:r>
            <a:r>
              <a:rPr lang="zh-CN" altLang="en-US" sz="1400" b="1" i="0" u="none" strike="noStrike" dirty="0">
                <a:solidFill>
                  <a:schemeClr val="accent1"/>
                </a:solidFill>
                <a:latin typeface="Calibri" panose="020F0502020204030204" pitchFamily="34" charset="0"/>
                <a:ea typeface="Noto Sans SC"/>
                <a:cs typeface="Calibri" panose="020F0502020204030204" pitchFamily="34" charset="0"/>
                <a:sym typeface="Noto Sans SC"/>
              </a:rPr>
              <a:t>的机遇：</a:t>
            </a:r>
            <a:endParaRPr lang="en-US" altLang="zh-CN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oto Sans SC"/>
            </a:endParaRPr>
          </a:p>
          <a:p>
            <a:pPr>
              <a:lnSpc>
                <a:spcPct val="116666"/>
              </a:lnSpc>
              <a:spcAft>
                <a:spcPts val="1000"/>
              </a:spcAft>
              <a:defRPr/>
            </a:pPr>
            <a:r>
              <a:rPr lang="zh-CN" altLang="zh-CN" dirty="0">
                <a:solidFill>
                  <a:srgbClr val="505050"/>
                </a:solidFill>
                <a:latin typeface="Calibri" panose="020F0502020204030204" pitchFamily="34" charset="0"/>
                <a:ea typeface="Noto Sans SC" panose="020B0200000000000000" pitchFamily="34" charset="-122"/>
                <a:cs typeface="Calibri" panose="020F0502020204030204" pitchFamily="34" charset="0"/>
              </a:rPr>
              <a:t>近年来，以GPT、LLaMA为代表的大语言模型（LLM）展现出强大的代码理解和生成能力，为程序修复领域带来了革命性的机遇。它们能够学习海量代码知识，理解复杂的编程语义，并生成高质量的修复代码。</a:t>
            </a:r>
            <a:endParaRPr lang="zh-CN" altLang="zh-CN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6666"/>
              </a:lnSpc>
              <a:spcAft>
                <a:spcPts val="1000"/>
              </a:spcAft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612900"/>
            <a:ext cx="5080000" cy="47371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604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拟解决的关键问题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549">
            <a:off x="6604009" y="2152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41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08800" y="2432050"/>
            <a:ext cx="4191000" cy="1123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500" b="1" dirty="0">
                <a:solidFill>
                  <a:srgbClr val="003366"/>
                </a:solidFill>
                <a:latin typeface="Noto Sans SC"/>
                <a:ea typeface="Noto Sans SC"/>
                <a:sym typeface="Noto Sans SC"/>
              </a:rPr>
              <a:t>问题一：并发死锁类</a:t>
            </a:r>
            <a:r>
              <a:rPr lang="en-US" altLang="zh-CN" sz="1500" b="1" dirty="0">
                <a:solidFill>
                  <a:srgbClr val="003366"/>
                </a:solidFill>
                <a:latin typeface="Noto Sans SC"/>
                <a:ea typeface="Noto Sans SC"/>
                <a:sym typeface="Noto Sans SC"/>
              </a:rPr>
              <a:t>Bug</a:t>
            </a:r>
            <a:r>
              <a:rPr lang="zh-CN" altLang="en-US" sz="1500" b="1" dirty="0">
                <a:solidFill>
                  <a:srgbClr val="003366"/>
                </a:solidFill>
                <a:latin typeface="Noto Sans SC"/>
                <a:ea typeface="Noto Sans SC"/>
                <a:sym typeface="Noto Sans SC"/>
              </a:rPr>
              <a:t>修复效果不佳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zh-CN" altLang="en-US" sz="1600" dirty="0">
                <a:latin typeface="+mn-ea"/>
                <a:ea typeface="+mn-ea"/>
              </a:rPr>
              <a:t>现有 </a:t>
            </a:r>
            <a:r>
              <a:rPr lang="en-US" altLang="zh-CN" sz="1600" dirty="0">
                <a:latin typeface="+mn-ea"/>
                <a:ea typeface="+mn-ea"/>
              </a:rPr>
              <a:t>LLM </a:t>
            </a:r>
            <a:r>
              <a:rPr lang="zh-CN" altLang="en-US" sz="1600" dirty="0">
                <a:latin typeface="+mn-ea"/>
                <a:ea typeface="+mn-ea"/>
              </a:rPr>
              <a:t>难以深度解析多线程锁获取时序、资源竞争关系等并发核心语义。死锁属于运行时动态缺陷，</a:t>
            </a:r>
            <a:r>
              <a:rPr lang="en-US" altLang="zh-CN" sz="1600" dirty="0">
                <a:latin typeface="+mn-ea"/>
                <a:ea typeface="+mn-ea"/>
              </a:rPr>
              <a:t>LLM </a:t>
            </a:r>
            <a:r>
              <a:rPr lang="zh-CN" altLang="en-US" sz="1600" dirty="0">
                <a:latin typeface="+mn-ea"/>
                <a:ea typeface="+mn-ea"/>
              </a:rPr>
              <a:t>依赖静态代码分析</a:t>
            </a:r>
            <a:endParaRPr lang="en-US" sz="1600" i="0" u="none" strike="noStrike" dirty="0">
              <a:solidFill>
                <a:srgbClr val="808080"/>
              </a:solidFill>
              <a:latin typeface="+mn-ea"/>
              <a:ea typeface="+mn-ea"/>
              <a:cs typeface="Noto Sans SC"/>
              <a:sym typeface="Noto Sans SC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1300" y="4457701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15150" y="4562217"/>
            <a:ext cx="41910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zh-CN" sz="1600" b="1" dirty="0">
                <a:solidFill>
                  <a:srgbClr val="003366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问题二：RepairLLaMA模型验证不足</a:t>
            </a:r>
            <a:endParaRPr lang="zh-CN" altLang="zh-CN" sz="8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CN" sz="1600" dirty="0" err="1">
                <a:latin typeface="+mn-ea"/>
                <a:ea typeface="+mn-ea"/>
              </a:rPr>
              <a:t>RepairLLaMA</a:t>
            </a:r>
            <a:r>
              <a:rPr lang="en-US" altLang="zh-CN" sz="1600" dirty="0">
                <a:latin typeface="+mn-ea"/>
                <a:ea typeface="+mn-ea"/>
              </a:rPr>
              <a:t> </a:t>
            </a:r>
            <a:r>
              <a:rPr lang="zh-CN" altLang="en-US" sz="1600" dirty="0">
                <a:latin typeface="+mn-ea"/>
                <a:ea typeface="+mn-ea"/>
              </a:rPr>
              <a:t>的设计核心聚焦常规语法 </a:t>
            </a:r>
            <a:r>
              <a:rPr lang="en-US" altLang="zh-CN" sz="1600" dirty="0">
                <a:latin typeface="+mn-ea"/>
                <a:ea typeface="+mn-ea"/>
              </a:rPr>
              <a:t>/ </a:t>
            </a:r>
            <a:r>
              <a:rPr lang="zh-CN" altLang="en-US" sz="1600" dirty="0">
                <a:latin typeface="+mn-ea"/>
                <a:ea typeface="+mn-ea"/>
              </a:rPr>
              <a:t>逻辑 </a:t>
            </a:r>
            <a:r>
              <a:rPr lang="en-US" altLang="zh-CN" sz="1600" dirty="0">
                <a:latin typeface="+mn-ea"/>
                <a:ea typeface="+mn-ea"/>
              </a:rPr>
              <a:t>Bug </a:t>
            </a:r>
            <a:r>
              <a:rPr lang="zh-CN" altLang="en-US" sz="1600" dirty="0">
                <a:latin typeface="+mn-ea"/>
                <a:ea typeface="+mn-ea"/>
              </a:rPr>
              <a:t>修复，训练数据未包含任何死锁相关样本。并且</a:t>
            </a:r>
            <a:r>
              <a:rPr lang="en-US" altLang="zh-CN" sz="1600" dirty="0" err="1">
                <a:latin typeface="+mn-ea"/>
                <a:ea typeface="+mn-ea"/>
              </a:rPr>
              <a:t>RepairLLaMA</a:t>
            </a:r>
            <a:r>
              <a:rPr lang="zh-CN" altLang="en-US" sz="1600" dirty="0">
                <a:latin typeface="+mn-ea"/>
                <a:ea typeface="+mn-ea"/>
              </a:rPr>
              <a:t>未集成任何死锁检测模块。</a:t>
            </a:r>
            <a:endParaRPr lang="zh-CN" altLang="zh-CN" sz="4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921500" y="514985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8080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09A9B5C7-BE75-3193-E6EE-A9DEB45C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56DF780E-8F6C-53A6-7862-C283ABC9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6862EC1B-12D0-7DFB-26D3-4997922CA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r>
              <a:rPr lang="en-US" altLang="zh-CN" sz="36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RepairLLaMA</a:t>
            </a:r>
            <a:r>
              <a:rPr lang="zh-CN" altLang="en-US" sz="36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原因：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952500" y="1498600"/>
            <a:ext cx="8997950" cy="1322388"/>
          </a:xfrm>
          <a:prstGeom prst="roundRect">
            <a:avLst>
              <a:gd name="adj" fmla="val 12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050" y="18542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25600" y="1524000"/>
            <a:ext cx="70802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原因</a:t>
            </a: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一：</a:t>
            </a:r>
            <a:r>
              <a:rPr lang="en-US" altLang="zh-CN" sz="1800" b="1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RepaiLLaMA</a:t>
            </a: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具备程序修复专属的底层优化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625600" y="2017706"/>
            <a:ext cx="7988300" cy="523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/>
              <a:t>         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RepairLLaMA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并非通用大语言模型，而是针对 “程序缺陷修复” 场景的模型：其底层基于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CodeLlama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构建，训练数据聚焦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Defects4J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HumanEval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-Java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等经典程序缺陷数据集，天然具备代码语法理解、缺陷定位、修复代码生成的核心能力</a:t>
            </a:r>
            <a:r>
              <a:rPr lang="en-US" sz="14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52500" y="3048395"/>
            <a:ext cx="8997950" cy="1405731"/>
          </a:xfrm>
          <a:prstGeom prst="roundRect">
            <a:avLst>
              <a:gd name="adj" fmla="val 12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347247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43050" y="3165474"/>
            <a:ext cx="77914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原因</a:t>
            </a: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二：</a:t>
            </a:r>
            <a:r>
              <a:rPr lang="en-US" altLang="zh-CN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Repair</a:t>
            </a:r>
            <a:r>
              <a:rPr lang="en-US" altLang="zh-CN" sz="18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LLaMA</a:t>
            </a:r>
            <a:r>
              <a:rPr lang="zh-CN" altLang="en-US" sz="18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支持轻量化本地化部署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1422400" y="3510753"/>
            <a:ext cx="8191500" cy="695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死锁修复场景往往涉及核心的并发代码，数据隐私与本地化处理是核心。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RepairLLaMA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采用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LoRA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轻量化微调架构，基于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CodeLlama-7B/13B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的轻量级衍生版本，可完全本地化部署（无需调用外部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52500" y="4718049"/>
            <a:ext cx="8997950" cy="1405731"/>
          </a:xfrm>
          <a:prstGeom prst="roundRect">
            <a:avLst>
              <a:gd name="adj" fmla="val 12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3775" y="5166914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43050" y="4806950"/>
            <a:ext cx="80581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原因</a:t>
            </a: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三：</a:t>
            </a:r>
            <a:r>
              <a:rPr lang="en-US" altLang="zh-CN" sz="1800" b="1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Repair</a:t>
            </a:r>
            <a:r>
              <a:rPr lang="en-US" altLang="zh-CN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800" b="1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LLaMA</a:t>
            </a: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具备高扩展性，适配死锁检测</a:t>
            </a:r>
            <a:r>
              <a:rPr lang="en-US" altLang="zh-CN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18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修复的一体化的功能扩展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1543050" y="5302250"/>
            <a:ext cx="8147050" cy="6223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accent3"/>
                </a:solidFill>
              </a:rPr>
              <a:t>         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RepairLLaMA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的模型架构设计为 “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Bug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检测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修复生成” 的模块化结构，且支持参数高效微调：我们无需对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7B/13B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量级的模型做全量微调，只需针对 “死锁检测规则”“并发语义理解”“锁顺序优化修复” 等核心需求，微调少量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LoRA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参数，即可快速集成死锁检测模块，并将死锁修复逻辑融入现有修复框架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改进思路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1600" cy="1270000"/>
          </a:xfrm>
          <a:prstGeom prst="roundRect">
            <a:avLst>
              <a:gd name="adj" fmla="val 125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1968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778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思路</a:t>
            </a:r>
            <a:r>
              <a:rPr lang="en-US" sz="20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一：</a:t>
            </a:r>
            <a:r>
              <a:rPr lang="zh-CN" altLang="en-US" sz="20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引入并发死锁检测机制</a:t>
            </a:r>
            <a:endParaRPr 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zh-CN" dirty="0">
                <a:solidFill>
                  <a:srgbClr val="80808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在RepairLLaMA现有框架基础上，集成静态代码分析与动态运行时监控相结合的死锁检测模块，能够精准识别Java等并发程序中因锁顺序不当、资源竞争等导致的死锁问题。</a:t>
            </a:r>
            <a:endParaRPr lang="zh-CN" altLang="zh-CN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101600" cy="1270000"/>
          </a:xfrm>
          <a:prstGeom prst="roundRect">
            <a:avLst>
              <a:gd name="adj" fmla="val 125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3492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3302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思路</a:t>
            </a:r>
            <a:r>
              <a:rPr lang="en-US" sz="20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二：</a:t>
            </a:r>
            <a:r>
              <a:rPr lang="zh-CN" altLang="en-US" sz="20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增强模型死锁修复能力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针对死锁问题的特性，构建专门的死锁修复代码数据集，并对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Repair </a:t>
            </a:r>
            <a:r>
              <a:rPr lang="en-US" altLang="zh-CN" sz="1400" b="0" i="0" u="none" strike="noStrike" dirty="0" err="1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LLaMA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模型进行微调。使其学习死锁修复的模式和策略。进而生成更具有针对性的修复代码。</a:t>
            </a:r>
            <a:endParaRPr lang="en-US" sz="1400" b="0" i="0" u="none" strike="noStrike" dirty="0">
              <a:solidFill>
                <a:srgbClr val="8080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101600" cy="1270000"/>
          </a:xfrm>
          <a:prstGeom prst="roundRect">
            <a:avLst>
              <a:gd name="adj" fmla="val 125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5016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4826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思路</a:t>
            </a:r>
            <a:r>
              <a:rPr lang="en-US" sz="20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三：</a:t>
            </a:r>
            <a:r>
              <a:rPr lang="zh-CN" altLang="en-US" sz="2000" b="1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实现检测与修复的一体化流程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zh-CN" altLang="en-US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将死锁检测模块和修复模块无缝集成。形成“检测</a:t>
            </a:r>
            <a:r>
              <a:rPr lang="en-US" altLang="zh-CN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定位</a:t>
            </a:r>
            <a:r>
              <a:rPr lang="en-US" altLang="zh-CN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修复”的自动化闭环流程。</a:t>
            </a:r>
            <a:endParaRPr lang="en-US" sz="1400" b="0" i="0" u="none" strike="noStrike" dirty="0">
              <a:solidFill>
                <a:srgbClr val="8080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复现结果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336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总结：本次复现实验不仅验证了理论</a:t>
            </a:r>
            <a:r>
              <a:rPr lang="zh-CN" altLang="en-US" sz="16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的</a:t>
            </a:r>
            <a:r>
              <a:rPr lang="en-US" sz="16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可行性，更为后续的工程化落地提供了坚实的数据支撑</a:t>
            </a:r>
            <a:r>
              <a:rPr lang="en-US" sz="16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41E2773-74EF-8705-68BC-435A8C241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1" y="1365129"/>
            <a:ext cx="4946650" cy="327672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FE2DE4B-4F18-BC51-C4C8-1E5C09220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302" y="720725"/>
            <a:ext cx="4809638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5CF9-6185-FF26-FB5A-F9FF022E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D2DA0E0-CEA4-C1BF-E60E-DCFAC162B3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0E0A1E89-969C-02FD-C65A-BEF0BE6E8ED7}"/>
              </a:ext>
            </a:extLst>
          </p:cNvPr>
          <p:cNvSpPr/>
          <p:nvPr/>
        </p:nvSpPr>
        <p:spPr>
          <a:xfrm>
            <a:off x="762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3366"/>
                </a:solidFill>
                <a:latin typeface="Noto Sans SC"/>
                <a:ea typeface="Noto Sans SC"/>
                <a:sym typeface="Noto Sans SC"/>
              </a:rPr>
              <a:t>调研论文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235149C-2D6D-157B-80D8-5AA7F04A1AF7}"/>
              </a:ext>
            </a:extLst>
          </p:cNvPr>
          <p:cNvSpPr/>
          <p:nvPr/>
        </p:nvSpPr>
        <p:spPr>
          <a:xfrm>
            <a:off x="762000" y="1333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2A053AD5-3F2E-0B49-4CC4-EA4F7286C155}"/>
              </a:ext>
            </a:extLst>
          </p:cNvPr>
          <p:cNvSpPr/>
          <p:nvPr/>
        </p:nvSpPr>
        <p:spPr>
          <a:xfrm>
            <a:off x="762000" y="6096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77EF222-A3F8-6648-0639-674B1CE51AE1}"/>
              </a:ext>
            </a:extLst>
          </p:cNvPr>
          <p:cNvSpPr/>
          <p:nvPr/>
        </p:nvSpPr>
        <p:spPr>
          <a:xfrm>
            <a:off x="859168" y="1583323"/>
            <a:ext cx="10758008" cy="46396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27A1D0B-A761-CADD-4973-14C1721116C2}"/>
              </a:ext>
            </a:extLst>
          </p:cNvPr>
          <p:cNvSpPr txBox="1"/>
          <p:nvPr/>
        </p:nvSpPr>
        <p:spPr>
          <a:xfrm>
            <a:off x="1312106" y="1882583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《</a:t>
            </a:r>
            <a:r>
              <a:rPr lang="en-US" altLang="zh-CN" dirty="0" err="1">
                <a:solidFill>
                  <a:schemeClr val="tx1"/>
                </a:solidFill>
              </a:rPr>
              <a:t>RepairLLaMA：用于程序修复的高效表示和微调适配器</a:t>
            </a:r>
            <a:r>
              <a:rPr lang="en-US" altLang="zh-CN" dirty="0">
                <a:solidFill>
                  <a:schemeClr val="tx1"/>
                </a:solidFill>
              </a:rPr>
              <a:t>》</a:t>
            </a:r>
            <a:endParaRPr lang="zh-CN" altLang="zh-CN" dirty="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500E6B9-76F0-49AC-193C-B5BE4D8032CD}"/>
              </a:ext>
            </a:extLst>
          </p:cNvPr>
          <p:cNvSpPr txBox="1"/>
          <p:nvPr/>
        </p:nvSpPr>
        <p:spPr>
          <a:xfrm>
            <a:off x="1312106" y="2503683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《</a:t>
            </a:r>
            <a:r>
              <a:rPr lang="en-US" altLang="zh-CN" dirty="0" err="1"/>
              <a:t>通过提示工程评估</a:t>
            </a:r>
            <a:r>
              <a:rPr lang="en-US" altLang="zh-CN" dirty="0"/>
              <a:t> ChatGPT </a:t>
            </a:r>
            <a:r>
              <a:rPr lang="en-US" altLang="zh-CN" dirty="0" err="1"/>
              <a:t>在并行编程中数据竞争检测方面的优势和局限性</a:t>
            </a:r>
            <a:r>
              <a:rPr lang="en-US" altLang="zh-CN" dirty="0"/>
              <a:t> 》</a:t>
            </a:r>
            <a:endParaRPr lang="zh-CN" altLang="zh-CN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D2894A4-CDD6-338F-6771-0FE61C721B3A}"/>
              </a:ext>
            </a:extLst>
          </p:cNvPr>
          <p:cNvSpPr txBox="1"/>
          <p:nvPr/>
        </p:nvSpPr>
        <p:spPr>
          <a:xfrm>
            <a:off x="1312106" y="2965554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lang="zh-CN" altLang="en-US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、</a:t>
            </a:r>
            <a:r>
              <a:rPr lang="en-US" altLang="zh-CN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[2506.23749]《 </a:t>
            </a:r>
            <a:r>
              <a:rPr lang="en-US" altLang="zh-CN" dirty="0" err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基于LLM的自动程序修复综述：分类、设计范式和应用</a:t>
            </a:r>
            <a:r>
              <a:rPr lang="en-US" altLang="zh-CN" dirty="0">
                <a:solidFill>
                  <a:schemeClr val="tx1"/>
                </a:solidFill>
              </a:rPr>
              <a:t>》</a:t>
            </a:r>
            <a:endParaRPr lang="zh-CN" altLang="zh-CN" dirty="0">
              <a:solidFill>
                <a:schemeClr val="tx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CD08AC2-CB3C-8185-0DD8-F3A241876570}"/>
              </a:ext>
            </a:extLst>
          </p:cNvPr>
          <p:cNvSpPr txBox="1"/>
          <p:nvPr/>
        </p:nvSpPr>
        <p:spPr>
          <a:xfrm>
            <a:off x="1312106" y="3383984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r>
              <a:rPr lang="zh-CN" altLang="en-US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、</a:t>
            </a:r>
            <a:r>
              <a:rPr lang="en-US" altLang="zh-CN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[2405.01466] 《</a:t>
            </a:r>
            <a:r>
              <a:rPr lang="en-US" altLang="zh-CN" dirty="0" err="1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用于自动程序修复的大型语言模型的系统文献综述</a:t>
            </a:r>
            <a:r>
              <a:rPr lang="en-US" altLang="zh-CN" dirty="0"/>
              <a:t>》</a:t>
            </a:r>
            <a:endParaRPr lang="zh-CN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51C7DFB-A12C-FDBB-2015-FA196769ED00}"/>
              </a:ext>
            </a:extLst>
          </p:cNvPr>
          <p:cNvSpPr txBox="1"/>
          <p:nvPr/>
        </p:nvSpPr>
        <p:spPr>
          <a:xfrm>
            <a:off x="1312106" y="3831059"/>
            <a:ext cx="956778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《 Automated Program Repair: A Primer 》-----</a:t>
            </a:r>
            <a:r>
              <a:rPr lang="zh-CN" altLang="en-US" dirty="0"/>
              <a:t>拆解了 </a:t>
            </a:r>
            <a:r>
              <a:rPr lang="en-US" altLang="zh-CN" dirty="0"/>
              <a:t>APR </a:t>
            </a:r>
            <a:r>
              <a:rPr lang="zh-CN" altLang="en-US" dirty="0"/>
              <a:t>的完整流程：故障定位→补丁生成→补丁验证</a:t>
            </a:r>
            <a:endParaRPr lang="en-US" altLang="zh-CN" dirty="0"/>
          </a:p>
          <a:p>
            <a:endParaRPr lang="zh-CN" altLang="zh-CN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88C89B0-A4B7-D36F-DFE4-75297616A5E7}"/>
              </a:ext>
            </a:extLst>
          </p:cNvPr>
          <p:cNvSpPr txBox="1"/>
          <p:nvPr/>
        </p:nvSpPr>
        <p:spPr>
          <a:xfrm>
            <a:off x="1312106" y="4281759"/>
            <a:ext cx="956778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《Understanding Concurrency Bugs: A Comprehensive Study on Real-World Concurrency Bug Characteristics 》---      --</a:t>
            </a:r>
            <a:r>
              <a:rPr lang="zh-CN" altLang="en-US" dirty="0"/>
              <a:t>死锁和原子性违反的定义和触发原因，以及传统修复方法</a:t>
            </a:r>
            <a:endParaRPr lang="zh-CN" altLang="zh-CN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4658ECF-39D8-5D31-12C9-F1F1AFC49756}"/>
              </a:ext>
            </a:extLst>
          </p:cNvPr>
          <p:cNvSpPr txBox="1"/>
          <p:nvPr/>
        </p:nvSpPr>
        <p:spPr>
          <a:xfrm>
            <a:off x="1312106" y="4968590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《Deadlock Detection and Repair: A Survey》-----</a:t>
            </a:r>
            <a:r>
              <a:rPr lang="zh-CN" altLang="en-US" dirty="0"/>
              <a:t>死锁的检测与修复的完整流程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95541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000" y="2159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研究计划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计划在现有基础上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将对轻量化模型进行扩展和构建，并测试简单死锁</a:t>
            </a:r>
            <a:r>
              <a:rPr lang="en-US" altLang="zh-CN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Bug</a:t>
            </a:r>
            <a:r>
              <a:rPr lang="zh-CN" altLang="en-US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，针对性设计死锁的代码数据集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2000" y="2159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30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针对当前模型的局限性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除了在并发性死锁方向构建相关模块，还可增加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并发性的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Bug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的检测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修复一体化模块。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0" y="2159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82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应用前景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30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研究成果可广泛应用于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大模型的代码修复，进而增强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LLM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在并发性的代码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Bug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中的修复能力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84500"/>
            <a:ext cx="762000" cy="50800"/>
          </a:xfrm>
          <a:prstGeom prst="roundRect">
            <a:avLst>
              <a:gd name="adj" fmla="val 0"/>
            </a:avLst>
          </a:prstGeom>
          <a:solidFill>
            <a:srgbClr val="CCCC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899</Words>
  <Application>Microsoft Office PowerPoint</Application>
  <PresentationFormat>宽屏</PresentationFormat>
  <Paragraphs>88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Noto Sans SC</vt:lpstr>
      <vt:lpstr>宋体</vt:lpstr>
      <vt:lpstr>Arial</vt:lpstr>
      <vt:lpstr>Calibri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志成 杨</cp:lastModifiedBy>
  <cp:revision>2</cp:revision>
  <dcterms:modified xsi:type="dcterms:W3CDTF">2026-03-19T13:35:27Z</dcterms:modified>
</cp:coreProperties>
</file>